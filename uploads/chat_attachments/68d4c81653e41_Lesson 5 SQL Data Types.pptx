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8288000" cy="10287000"/>
  <p:notesSz cx="6858000" cy="9144000"/>
  <p:embeddedFontLst>
    <p:embeddedFont>
      <p:font typeface="Aloja" panose="020B0604020202020204" charset="0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Lato Bold" panose="020B0604020202020204" charset="0"/>
      <p:regular r:id="rId41"/>
    </p:embeddedFont>
    <p:embeddedFont>
      <p:font typeface="League Spartan" panose="020B0604020202020204" charset="0"/>
      <p:regular r:id="rId42"/>
    </p:embeddedFont>
    <p:embeddedFont>
      <p:font typeface="Poppins" panose="00000500000000000000" pitchFamily="2" charset="0"/>
      <p:regular r:id="rId43"/>
    </p:embeddedFont>
    <p:embeddedFont>
      <p:font typeface="Poppins Bold" panose="020B0604020202020204" charset="0"/>
      <p:regular r:id="rId44"/>
    </p:embeddedFont>
    <p:embeddedFont>
      <p:font typeface="Poppins Bold Italics" panose="020B0604020202020204" charset="0"/>
      <p:regular r:id="rId45"/>
    </p:embeddedFont>
    <p:embeddedFont>
      <p:font typeface="Poppins Italics" panose="020B0604020202020204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8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34331" y="3545562"/>
            <a:ext cx="17665313" cy="144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59"/>
              </a:lnSpc>
              <a:spcBef>
                <a:spcPct val="0"/>
              </a:spcBef>
            </a:pPr>
            <a:r>
              <a:rPr lang="en-US" sz="83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SQL DATA TYPES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39044" y="5204694"/>
            <a:ext cx="14741736" cy="1252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5"/>
              </a:lnSpc>
              <a:spcBef>
                <a:spcPct val="0"/>
              </a:spcBef>
            </a:pPr>
            <a:r>
              <a:rPr lang="en-US" sz="731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LESSON 5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2234331" y="6563613"/>
            <a:ext cx="13536563" cy="439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84057" y="571499"/>
            <a:ext cx="14432460" cy="862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729"/>
              </a:lnSpc>
            </a:pPr>
            <a:r>
              <a:rPr lang="en-US" sz="66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 Outcomes</a:t>
            </a:r>
          </a:p>
          <a:p>
            <a:pPr marL="690881" lvl="1" indent="-345440" algn="just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 SQL datatypes and their role in databases.</a:t>
            </a:r>
          </a:p>
          <a:p>
            <a:pPr marL="690881" lvl="1" indent="-345440" algn="just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Differentiate between </a:t>
            </a:r>
            <a:r>
              <a:rPr lang="en-US" sz="3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 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-US" sz="3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 </a:t>
            </a: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with respect to size and usage.</a:t>
            </a:r>
          </a:p>
          <a:p>
            <a:pPr marL="690881" lvl="1" indent="-345440" algn="just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 why choosing the correct datatype size is important for efficiency and accuracy.</a:t>
            </a:r>
          </a:p>
          <a:p>
            <a:pPr marL="690881" lvl="1" indent="-345440" algn="just">
              <a:lnSpc>
                <a:spcPts val="8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appropriate datatypes when creating simple database tables.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5525" y="70023"/>
            <a:ext cx="16716950" cy="972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972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are SQL Datatypes? </a:t>
            </a:r>
          </a:p>
          <a:p>
            <a:pPr algn="just">
              <a:lnSpc>
                <a:spcPts val="8199"/>
              </a:lnSpc>
            </a:pPr>
            <a:r>
              <a:rPr lang="en-US" sz="4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SQL datatypes define the kind of data a column can hold in a table. Choosing the right datatype is important for </a:t>
            </a:r>
            <a:r>
              <a:rPr lang="en-US" sz="41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storage efficiency</a:t>
            </a:r>
            <a:r>
              <a:rPr lang="en-US" sz="4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41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</a:t>
            </a:r>
            <a:r>
              <a:rPr lang="en-US" sz="4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41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</a:t>
            </a:r>
            <a:r>
              <a:rPr lang="en-US" sz="4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661086" lvl="1" indent="-330543" algn="just">
              <a:lnSpc>
                <a:spcPts val="6032"/>
              </a:lnSpc>
              <a:buFont typeface="Arial"/>
              <a:buChar char="•"/>
            </a:pPr>
            <a:r>
              <a:rPr lang="en-US" sz="30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tells the database whether the column will contain numbers, text, dates, or other forms of data.</a:t>
            </a:r>
          </a:p>
          <a:p>
            <a:pPr algn="just">
              <a:lnSpc>
                <a:spcPts val="6032"/>
              </a:lnSpc>
            </a:pPr>
            <a:r>
              <a:rPr lang="en-US" sz="30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example:</a:t>
            </a:r>
          </a:p>
          <a:p>
            <a:pPr marL="1322173" lvl="2" indent="-440724" algn="just">
              <a:lnSpc>
                <a:spcPts val="6032"/>
              </a:lnSpc>
              <a:buFont typeface="Arial"/>
              <a:buChar char="⚬"/>
            </a:pPr>
            <a:r>
              <a:rPr lang="en-US" sz="306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 </a:t>
            </a:r>
            <a:r>
              <a:rPr lang="en-US" sz="30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 whole numbers</a:t>
            </a:r>
          </a:p>
          <a:p>
            <a:pPr marL="1322173" lvl="2" indent="-440724" algn="just">
              <a:lnSpc>
                <a:spcPts val="6032"/>
              </a:lnSpc>
              <a:buFont typeface="Arial"/>
              <a:buChar char="⚬"/>
            </a:pPr>
            <a:r>
              <a:rPr lang="en-US" sz="306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DECIMAL </a:t>
            </a:r>
            <a:r>
              <a:rPr lang="en-US" sz="30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 numbers with decimals</a:t>
            </a:r>
          </a:p>
          <a:p>
            <a:pPr marL="1322173" lvl="2" indent="-440724" algn="just">
              <a:lnSpc>
                <a:spcPts val="6032"/>
              </a:lnSpc>
              <a:buFont typeface="Arial"/>
              <a:buChar char="⚬"/>
            </a:pPr>
            <a:r>
              <a:rPr lang="en-US" sz="306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DATE </a:t>
            </a:r>
            <a:r>
              <a:rPr lang="en-US" sz="30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 dates</a:t>
            </a:r>
          </a:p>
          <a:p>
            <a:pPr marL="1322173" lvl="2" indent="-440724" algn="just">
              <a:lnSpc>
                <a:spcPts val="6032"/>
              </a:lnSpc>
              <a:buFont typeface="Arial"/>
              <a:buChar char="⚬"/>
            </a:pPr>
            <a:r>
              <a:rPr lang="en-US" sz="306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 </a:t>
            </a:r>
            <a:r>
              <a:rPr lang="en-US" sz="30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 </a:t>
            </a:r>
            <a:r>
              <a:rPr lang="en-US" sz="306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 </a:t>
            </a:r>
            <a:r>
              <a:rPr lang="en-US" sz="30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 text or string values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5525" y="320371"/>
            <a:ext cx="16716950" cy="9227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972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Character Datatypes: CHAR vs. VARCHAR </a:t>
            </a:r>
          </a:p>
          <a:p>
            <a:pPr algn="just">
              <a:lnSpc>
                <a:spcPts val="7017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common datatypes for text are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769034" lvl="1" indent="-384517" algn="just">
              <a:lnSpc>
                <a:spcPts val="7017"/>
              </a:lnSpc>
              <a:buFont typeface="Arial"/>
              <a:buChar char="•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CHAR(n):</a:t>
            </a:r>
          </a:p>
          <a:p>
            <a:pPr marL="1538067" lvl="2" indent="-512689" algn="just">
              <a:lnSpc>
                <a:spcPts val="7017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a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fixed length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characters.</a:t>
            </a:r>
          </a:p>
          <a:p>
            <a:pPr marL="1538067" lvl="2" indent="-512689" algn="just">
              <a:lnSpc>
                <a:spcPts val="7017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the data is shorter, the database pads it with spaces.</a:t>
            </a:r>
          </a:p>
          <a:p>
            <a:pPr marL="1538067" lvl="2" indent="-512689" algn="just">
              <a:lnSpc>
                <a:spcPts val="7017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CHAR(8)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will always take 8 spaces.</a:t>
            </a:r>
          </a:p>
          <a:p>
            <a:pPr marL="769034" lvl="1" indent="-384517" algn="just">
              <a:lnSpc>
                <a:spcPts val="7017"/>
              </a:lnSpc>
              <a:buFont typeface="Arial"/>
              <a:buChar char="•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VARCHAR(n)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1538067" lvl="2" indent="-512689" algn="just">
              <a:lnSpc>
                <a:spcPts val="7017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a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 length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characters.</a:t>
            </a:r>
          </a:p>
          <a:p>
            <a:pPr marL="1538067" lvl="2" indent="-512689" algn="just">
              <a:lnSpc>
                <a:spcPts val="7017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only the space needed to store the actual characters.</a:t>
            </a:r>
          </a:p>
          <a:p>
            <a:pPr marL="1538067" lvl="2" indent="-512689" algn="just">
              <a:lnSpc>
                <a:spcPts val="7017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VARCHAR(8)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can store from 1 up to 8 characters.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68136" y="732046"/>
            <a:ext cx="16351727" cy="852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972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is Data Size Important? </a:t>
            </a:r>
          </a:p>
          <a:p>
            <a:pPr algn="just">
              <a:lnSpc>
                <a:spcPts val="7017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Defining the correct size for a datatype is very important in database design: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Efficient storage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– If the size is too large, it wastes space.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Faster queries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– Smaller, well-defined sizes make searching and indexing quicker.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consistency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– Setting an exact size avoids incorrect or incomplete data.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47465"/>
            <a:ext cx="16351727" cy="8220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415"/>
              </a:lnSpc>
            </a:pPr>
            <a:r>
              <a:rPr lang="en-US" sz="5061" b="1" spc="2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For example:</a:t>
            </a:r>
          </a:p>
          <a:p>
            <a:pPr marL="769034" lvl="1" indent="-384517" algn="just">
              <a:lnSpc>
                <a:spcPts val="6625"/>
              </a:lnSpc>
              <a:buFont typeface="Arial"/>
              <a:buChar char="•"/>
            </a:pPr>
            <a:r>
              <a:rPr lang="en-US" sz="3561" spc="1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you are storing an </a:t>
            </a:r>
            <a:r>
              <a:rPr lang="en-US" sz="3561" b="1" spc="18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identifier name</a:t>
            </a:r>
            <a:r>
              <a:rPr lang="en-US" sz="3561" spc="1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will always be 8 letters (like a code or username), you can define it as:</a:t>
            </a:r>
          </a:p>
          <a:p>
            <a:pPr algn="just">
              <a:lnSpc>
                <a:spcPts val="2533"/>
              </a:lnSpc>
            </a:pPr>
            <a:endParaRPr lang="en-US" sz="3561" spc="18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6625"/>
              </a:lnSpc>
            </a:pPr>
            <a:r>
              <a:rPr lang="en-US" sz="3561" b="1" spc="18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VARCHAR(8)</a:t>
            </a:r>
          </a:p>
          <a:p>
            <a:pPr algn="just">
              <a:lnSpc>
                <a:spcPts val="6625"/>
              </a:lnSpc>
            </a:pPr>
            <a:endParaRPr lang="en-US" sz="3561" b="1" spc="188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6625"/>
              </a:lnSpc>
            </a:pPr>
            <a:r>
              <a:rPr lang="en-US" sz="3561" spc="1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ensures that:</a:t>
            </a:r>
          </a:p>
          <a:p>
            <a:pPr marL="769034" lvl="1" indent="-384517" algn="just">
              <a:lnSpc>
                <a:spcPts val="6625"/>
              </a:lnSpc>
              <a:buFont typeface="Arial"/>
              <a:buChar char="•"/>
            </a:pPr>
            <a:r>
              <a:rPr lang="en-US" sz="3561" spc="1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 cannot insert </a:t>
            </a:r>
            <a:r>
              <a:rPr lang="en-US" sz="3561" b="1" spc="18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more than 8 letters.</a:t>
            </a:r>
          </a:p>
          <a:p>
            <a:pPr marL="769034" lvl="1" indent="-384517" algn="just">
              <a:lnSpc>
                <a:spcPts val="6625"/>
              </a:lnSpc>
              <a:buFont typeface="Arial"/>
              <a:buChar char="•"/>
            </a:pPr>
            <a:r>
              <a:rPr lang="en-US" sz="3561" spc="1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database will only store up to 8 characters, keeping it consistent and efficient.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9561" y="561889"/>
            <a:ext cx="16351727" cy="938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Scenario </a:t>
            </a:r>
          </a:p>
          <a:p>
            <a:pPr algn="just">
              <a:lnSpc>
                <a:spcPts val="4986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Imagine you are creating a table for student IDs:</a:t>
            </a:r>
          </a:p>
          <a:p>
            <a:pPr algn="just">
              <a:lnSpc>
                <a:spcPts val="4986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986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 TABLE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Students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</a:p>
          <a:p>
            <a:pPr algn="just">
              <a:lnSpc>
                <a:spcPts val="4986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student_id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VARCHAR(8)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 NULL,</a:t>
            </a:r>
          </a:p>
          <a:p>
            <a:pPr algn="just">
              <a:lnSpc>
                <a:spcPts val="4986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student_name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VARCHAR(50)</a:t>
            </a:r>
          </a:p>
          <a:p>
            <a:pPr algn="just">
              <a:lnSpc>
                <a:spcPts val="4986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just">
              <a:lnSpc>
                <a:spcPts val="4986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69034" lvl="1" indent="-384517" algn="just">
              <a:lnSpc>
                <a:spcPts val="6767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Here,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student_id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limited to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 characters only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This prevents mistakes such as storing IDs with 9 or 10 letters.</a:t>
            </a:r>
          </a:p>
          <a:p>
            <a:pPr marL="769034" lvl="1" indent="-384517" algn="just">
              <a:lnSpc>
                <a:spcPts val="6767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 the same time,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student_name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allows up to 50 characters, since names can vary in length.</a:t>
            </a:r>
          </a:p>
          <a:p>
            <a:pPr algn="just">
              <a:lnSpc>
                <a:spcPts val="4986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31463"/>
            <a:ext cx="16319739" cy="7423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Essential  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Always choose the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right datatype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for each column.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specific sizes for data to save space, improve speed, and keep data consistent.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best for fixed-length data (like postal codes).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best for variable-length data (like names, emails, or addresses).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156962"/>
            <a:ext cx="16319739" cy="130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6"/>
              </a:lnSpc>
            </a:pPr>
            <a:r>
              <a:rPr lang="en-US" sz="72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SQL DATATYPES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9561" y="417427"/>
            <a:ext cx="16319739" cy="906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marL="769034" lvl="1" indent="-384517" algn="just">
              <a:lnSpc>
                <a:spcPts val="8904"/>
              </a:lnSpc>
              <a:buAutoNum type="arabicPeriod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fixed-length string.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the data is shorter than the defined size, it will be padded with spaces.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Range: 0–255 characters.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Best for codes or data that always have the same length.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Products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product_code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CHAR(5)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just">
              <a:lnSpc>
                <a:spcPts val="5093"/>
              </a:lnSpc>
            </a:pPr>
            <a:r>
              <a:rPr lang="en-US" sz="3561" b="1" i="1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INSERT INTO </a:t>
            </a:r>
            <a:r>
              <a:rPr lang="en-US" sz="3561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Products VALUES ('A123');</a:t>
            </a:r>
          </a:p>
          <a:p>
            <a:pPr algn="just">
              <a:lnSpc>
                <a:spcPts val="5093"/>
              </a:lnSpc>
            </a:pPr>
            <a:r>
              <a:rPr lang="en-US" sz="3561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-- Stored as 'A123 ' (with 1 space)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9561" y="660908"/>
            <a:ext cx="16319739" cy="842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2. 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VARCHAR(size)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VARIABLE length string (can contain letters, numbers, and special characters). The size parameter specifies the maximum string length in characters - can be from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 to 65535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Best for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names, emails,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text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with varying lengths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Users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username VARCHAR(20)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INSERT INTO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Users VALUES ('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Maria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');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-- Stored as 'Maria' (no extra space)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9561" y="1815517"/>
            <a:ext cx="16319739" cy="651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3. 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BINARY(size)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Equal to CHAR(), but stores binary byte strings. The size parameter specifies the column length in bytes.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Default is 1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Range: 0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–255 bytes.</a:t>
            </a:r>
          </a:p>
          <a:p>
            <a:pPr algn="just">
              <a:lnSpc>
                <a:spcPts val="5093"/>
              </a:lnSpc>
            </a:pPr>
            <a:endParaRPr lang="en-US" sz="3561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Files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file_hash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BINARY(16)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9561" y="1815517"/>
            <a:ext cx="16319739" cy="651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4. 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VARBINARY(size)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Equal to VARCHAR(), but stores binary byte strings. The size parameter specifies the maximum column length in bytes.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Files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file_data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VARBINARY(1000)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815517"/>
            <a:ext cx="16319739" cy="651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5.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TINYBLOB / TINYTEXT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TINYBLOB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Stores small binary objects, up to 255 bytes.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TINYTEXT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Stores small text strings, up to 255 characters.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Notes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short_note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TINYTEXT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815517"/>
            <a:ext cx="16319739" cy="651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6.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TEXT / BLOB 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TEXT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Stores strings, up to 65,535 characters.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BLOB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Stores binary data, up to 65,535 bytes.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Articles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content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TEXT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77342"/>
            <a:ext cx="16319739" cy="778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7.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MEDIUMTEXT / MEDIUMBLOB  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MEDIUMTEXT: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Holds a string with a maximum length of 16,777,215 characters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MEDIUMBLOB: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BLOBs (Binary Large Objects). Holds up to 16,777,215 bytes of data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Reports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report_content MEDIUMTEXT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77342"/>
            <a:ext cx="16319739" cy="778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8.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LONGTEXT / LONGBLOB  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LONGTEXT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Holds a string with a maximum length of 4,294,967,295 characters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LONGBLOB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For BLOBs (Binary Large Objects). Holds up to 4,294,967,295 bytes of data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Books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full_text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LONGTEXT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31601" y="858255"/>
            <a:ext cx="16319739" cy="842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9.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ENUM(val1, val2, ...)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string object with one value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from a list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a value outside the list is inserted, it defaults to blank.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 can list up to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65535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values in an ENUM list.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Gender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gender ENUM('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Male', 'Female', 'Other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')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INSERT INTO 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Gender VALUES ('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');  -- ✅</a:t>
            </a: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INSERT INTO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Gender VALUES ('Unknown'); -- ❌ becomes blank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51891" y="1345218"/>
            <a:ext cx="16319739" cy="715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String and Character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10.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SET(val1, val2, ...)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string object with 0 or more values from a list.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Maximum 64 values.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Hobbies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hobby SET('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Reading', 'Traveling', 'Cooking', 'Sports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')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INSERT INTO Hobbies VALUES ('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Reading,Cooking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');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51891" y="1345218"/>
            <a:ext cx="16319739" cy="715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11.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BIT(size)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bit-value type. The number of bits per value is specified in size. The size parameter can hold a value from 1 to 64. The default value for size is 1.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Flags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is_active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BIT(1)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496430"/>
            <a:ext cx="16319739" cy="715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12.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TINYINT(size)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very small integer. Signed range is from -128 to 127. Unsigned range is from 0 to 255. The size parameter specifies the maximum display width (which is 255)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Ratings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stars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TINYINT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INSERT INTO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Ratings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VALUES (5);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37404" y="2134605"/>
            <a:ext cx="16319739" cy="587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13.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BOOL / BOOLEAN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Boolean type.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 =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FALSE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non-zero =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TRUE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Users (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is_verified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BOOLEAN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91021" y="1468860"/>
            <a:ext cx="16319739" cy="778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86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 Types </a:t>
            </a:r>
          </a:p>
          <a:p>
            <a:pPr algn="just">
              <a:lnSpc>
                <a:spcPts val="8904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14.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SMALLINT(size)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small integer. Signed range is from -32768 to 32767. Unsigned range is from 0 to 65535. The size parameter specifies the maximum display width (which is 255)</a:t>
            </a:r>
          </a:p>
          <a:p>
            <a:pPr algn="just">
              <a:lnSpc>
                <a:spcPts val="5093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15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MEDIUMINT(size)</a:t>
            </a:r>
          </a:p>
          <a:p>
            <a:pPr marL="1538067" lvl="2" indent="-512689" algn="just">
              <a:lnSpc>
                <a:spcPts val="5093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medium integer. Signed range is from -8388608 to 8388607. Unsigned range is from 0 to 16777215. The size parameter specifies the maximum display width (which is 255)</a:t>
            </a: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093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4857"/>
            <a:ext cx="16319739" cy="948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 Types 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16.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INT(size)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medium integer. Signed range is from -2147483648 to 2147483647. Unsigned range is from 0 to 4294967295. The size parameter specifies the maximum display width (which is 255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17.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BIGINT(size)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Large integer.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Signed: -9 quintillion to +9 quintillion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Unsigned: 0 to 18 quintillion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18.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FLOAT(size, d)</a:t>
            </a:r>
          </a:p>
          <a:p>
            <a:pPr marL="769034" lvl="1" indent="-384517" algn="just">
              <a:lnSpc>
                <a:spcPts val="5592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Floating-point number with approximate precision.</a:t>
            </a:r>
          </a:p>
          <a:p>
            <a:pPr marL="769034" lvl="1" indent="-384517" algn="just">
              <a:lnSpc>
                <a:spcPts val="5592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size = total digits, d = digits after decimal.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Deprecated in MySQL 8+.</a:t>
            </a: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87047"/>
            <a:ext cx="16319739" cy="948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 Types 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19.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FLOAT(p)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p =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0–24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becomes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FLOAT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p =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25–53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becomes DOUBLE.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floating point number. MySQL uses the p value to determine whether to use FLOAT or DOUBLE for the resulting data type. If p is from 0 to 24, the data type becomes FLOAT(). If p is from 25 to 53, the data type becomes DOUBLE()</a:t>
            </a:r>
          </a:p>
          <a:p>
            <a:pPr algn="just">
              <a:lnSpc>
                <a:spcPts val="5592"/>
              </a:lnSpc>
            </a:pPr>
            <a:r>
              <a:rPr lang="en-US" sz="3561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20.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DOUBLE(size, d)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normal-size floating point number. The total number of digits is specified in size. The number of digits after the decimal point is specified in the d parameter</a:t>
            </a:r>
          </a:p>
          <a:p>
            <a:pPr algn="just">
              <a:lnSpc>
                <a:spcPts val="5592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87047"/>
            <a:ext cx="16319739" cy="1018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 Types </a:t>
            </a:r>
          </a:p>
          <a:p>
            <a:pPr algn="just">
              <a:lnSpc>
                <a:spcPts val="5592"/>
              </a:lnSpc>
            </a:pPr>
            <a:r>
              <a:rPr lang="en-US" sz="3561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20.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DOUBLE(size, d)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normal-size floating point number. The total number of digits is specified in size. The number of digits after the decimal point is specified in the d parameter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normal-size floating point number. The total number of digits is specified in size. The number of digits after the decimal point is specified in the d parameter</a:t>
            </a:r>
          </a:p>
          <a:p>
            <a:pPr algn="just">
              <a:lnSpc>
                <a:spcPts val="5592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5592"/>
              </a:lnSpc>
            </a:pP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TABLE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Prices (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price DOUBLE(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10,2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INSERT INTO Prices VALUES (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99999.99</a:t>
            </a: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just">
              <a:lnSpc>
                <a:spcPts val="5592"/>
              </a:lnSpc>
            </a:pPr>
            <a:endParaRPr lang="en-US" sz="35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0504" y="-65378"/>
            <a:ext cx="16826992" cy="1018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Date and Time Types </a:t>
            </a:r>
          </a:p>
          <a:p>
            <a:pPr algn="just">
              <a:lnSpc>
                <a:spcPts val="5592"/>
              </a:lnSpc>
            </a:pPr>
            <a:r>
              <a:rPr lang="en-US" sz="3561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21. </a:t>
            </a:r>
            <a:r>
              <a:rPr lang="en-US" sz="3561" b="1" i="1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DATE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date. Format: YYYY-MM-DD. The supported range is from '1000-01-01' to '9999-12-31'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22.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DATETIME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date and time combination. Format: YYYY-MM-DD hh:mm:ss. The supported range is from '1000-01-01 00:00:00' to '9999-12-31 23:59:59'. Adding DEFAULT and ON UPDATE in the column definition to get automatic initialization and updating to the current date and time 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23.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TIMESTAMP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seconds since Unix epoch (1970-01-01).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Format: YYYY-MM-DD hh:mm:ss.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Auto-updates when a row is modifie</a:t>
            </a:r>
          </a:p>
        </p:txBody>
      </p:sp>
      <p:sp>
        <p:nvSpPr>
          <p:cNvPr id="4" name="Freeform 4"/>
          <p:cNvSpPr/>
          <p:nvPr/>
        </p:nvSpPr>
        <p:spPr>
          <a:xfrm>
            <a:off x="11038585" y="8752573"/>
            <a:ext cx="6802973" cy="1314055"/>
          </a:xfrm>
          <a:custGeom>
            <a:avLst/>
            <a:gdLst/>
            <a:ahLst/>
            <a:cxnLst/>
            <a:rect l="l" t="t" r="r" b="b"/>
            <a:pathLst>
              <a:path w="6802973" h="1314055">
                <a:moveTo>
                  <a:pt x="0" y="0"/>
                </a:moveTo>
                <a:lnTo>
                  <a:pt x="6802973" y="0"/>
                </a:lnTo>
                <a:lnTo>
                  <a:pt x="6802973" y="1314055"/>
                </a:lnTo>
                <a:lnTo>
                  <a:pt x="0" y="1314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7650" y="6706283"/>
            <a:ext cx="5830529" cy="2083697"/>
          </a:xfrm>
          <a:custGeom>
            <a:avLst/>
            <a:gdLst/>
            <a:ahLst/>
            <a:cxnLst/>
            <a:rect l="l" t="t" r="r" b="b"/>
            <a:pathLst>
              <a:path w="5830529" h="2083697">
                <a:moveTo>
                  <a:pt x="0" y="0"/>
                </a:moveTo>
                <a:lnTo>
                  <a:pt x="5830529" y="0"/>
                </a:lnTo>
                <a:lnTo>
                  <a:pt x="5830529" y="2083697"/>
                </a:lnTo>
                <a:lnTo>
                  <a:pt x="0" y="2083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6706283"/>
            <a:ext cx="7182475" cy="2827144"/>
          </a:xfrm>
          <a:custGeom>
            <a:avLst/>
            <a:gdLst/>
            <a:ahLst/>
            <a:cxnLst/>
            <a:rect l="l" t="t" r="r" b="b"/>
            <a:pathLst>
              <a:path w="7182475" h="2827144">
                <a:moveTo>
                  <a:pt x="0" y="0"/>
                </a:moveTo>
                <a:lnTo>
                  <a:pt x="7182475" y="0"/>
                </a:lnTo>
                <a:lnTo>
                  <a:pt x="7182475" y="2827144"/>
                </a:lnTo>
                <a:lnTo>
                  <a:pt x="0" y="2827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30504" y="-65378"/>
            <a:ext cx="16826992" cy="596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Date and Time Types </a:t>
            </a:r>
          </a:p>
          <a:p>
            <a:pPr algn="just">
              <a:lnSpc>
                <a:spcPts val="5592"/>
              </a:lnSpc>
            </a:pPr>
            <a:r>
              <a:rPr lang="en-US" sz="3561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24. </a:t>
            </a:r>
            <a:r>
              <a:rPr lang="en-US" sz="3561" b="1" i="1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TIME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time. Format: hh:mm:ss. The supported range is from '-838:59:59' to '838:59:59'</a:t>
            </a:r>
          </a:p>
          <a:p>
            <a:pPr algn="just">
              <a:lnSpc>
                <a:spcPts val="5592"/>
              </a:lnSpc>
            </a:pPr>
            <a:r>
              <a:rPr lang="en-US" sz="3561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25. </a:t>
            </a:r>
            <a:r>
              <a:rPr lang="en-US" sz="3561" b="1" i="1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YEAR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year in four-digit format. Values allowed in four-digit format: 1901 to 2155, and 0000.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MySQL 8.0 does not support year in two-digit format.</a:t>
            </a:r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9561" y="4373811"/>
            <a:ext cx="16319739" cy="125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8"/>
              </a:lnSpc>
            </a:pPr>
            <a:r>
              <a:rPr lang="en-US" sz="63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NORMALIZATION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85075" y="6008364"/>
            <a:ext cx="13508567" cy="3802930"/>
          </a:xfrm>
          <a:custGeom>
            <a:avLst/>
            <a:gdLst/>
            <a:ahLst/>
            <a:cxnLst/>
            <a:rect l="l" t="t" r="r" b="b"/>
            <a:pathLst>
              <a:path w="13508567" h="3802930">
                <a:moveTo>
                  <a:pt x="0" y="0"/>
                </a:moveTo>
                <a:lnTo>
                  <a:pt x="13508566" y="0"/>
                </a:lnTo>
                <a:lnTo>
                  <a:pt x="13508566" y="3802930"/>
                </a:lnTo>
                <a:lnTo>
                  <a:pt x="0" y="3802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87047"/>
            <a:ext cx="16319739" cy="525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Tables and Normalization </a:t>
            </a:r>
          </a:p>
          <a:p>
            <a:pPr algn="just">
              <a:lnSpc>
                <a:spcPts val="5592"/>
              </a:lnSpc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35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Tables</a:t>
            </a:r>
          </a:p>
          <a:p>
            <a:pPr marL="769034" lvl="1" indent="-384517" algn="just">
              <a:lnSpc>
                <a:spcPts val="5592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database table is like a spreadsheet with rows and columns.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Rows (records/tuples): Each row represents one entry, like a student or product.</a:t>
            </a:r>
          </a:p>
          <a:p>
            <a:pPr marL="1538067" lvl="2" indent="-512689" algn="just">
              <a:lnSpc>
                <a:spcPts val="5592"/>
              </a:lnSpc>
              <a:buFont typeface="Arial"/>
              <a:buChar char="⚬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Columns (fields/attributes): Each column represents a property of that entry, like student name, ID, or course.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49474"/>
            <a:ext cx="16319739" cy="7559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Normalization 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Normalization is the process of organizing data in the database to reduce redundancy (repetition) and improve data integrity.</a:t>
            </a:r>
          </a:p>
          <a:p>
            <a:pPr marL="769034" lvl="1" indent="-384517" algn="just">
              <a:lnSpc>
                <a:spcPts val="8904"/>
              </a:lnSpc>
              <a:buFont typeface="Arial"/>
              <a:buChar char="•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means structuring tables in such a way that:</a:t>
            </a:r>
          </a:p>
          <a:p>
            <a:pPr marL="1538067" lvl="2" indent="-512689" algn="just">
              <a:lnSpc>
                <a:spcPts val="8904"/>
              </a:lnSpc>
              <a:buAutoNum type="alphaLcPeriod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table has a clear purpose.</a:t>
            </a:r>
          </a:p>
          <a:p>
            <a:pPr marL="1538067" lvl="2" indent="-512689" algn="just">
              <a:lnSpc>
                <a:spcPts val="8904"/>
              </a:lnSpc>
              <a:buAutoNum type="alphaLcPeriod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is not unnecessarily duplicated.</a:t>
            </a:r>
          </a:p>
          <a:p>
            <a:pPr marL="1538067" lvl="2" indent="-512689" algn="just">
              <a:lnSpc>
                <a:spcPts val="8904"/>
              </a:lnSpc>
              <a:buAutoNum type="alphaLcPeriod"/>
            </a:pPr>
            <a:r>
              <a:rPr lang="en-US" sz="35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Relationships between data are properly maintained.</a:t>
            </a:r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1810" y="174739"/>
            <a:ext cx="16644381" cy="932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47"/>
              </a:lnSpc>
            </a:pPr>
            <a:r>
              <a:rPr lang="en-US" sz="50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Need for Normalization </a:t>
            </a:r>
          </a:p>
          <a:p>
            <a:pPr algn="just">
              <a:lnSpc>
                <a:spcPts val="4679"/>
              </a:lnSpc>
            </a:pP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Without normalization, problems can occur in the database:</a:t>
            </a:r>
          </a:p>
          <a:p>
            <a:pPr marL="682676" lvl="1" indent="-341338" algn="just">
              <a:lnSpc>
                <a:spcPts val="4679"/>
              </a:lnSpc>
              <a:buAutoNum type="arabicPeriod"/>
            </a:pPr>
            <a:r>
              <a:rPr lang="en-US" sz="31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Redundancy (Repetition):</a:t>
            </a:r>
          </a:p>
          <a:p>
            <a:pPr marL="1365352" lvl="2" indent="-455117" algn="just">
              <a:lnSpc>
                <a:spcPts val="4679"/>
              </a:lnSpc>
              <a:buFont typeface="Arial"/>
              <a:buChar char="⚬"/>
            </a:pP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Storing the same student’s contact number in multiple rows.</a:t>
            </a:r>
          </a:p>
          <a:p>
            <a:pPr marL="1365352" lvl="2" indent="-455117" algn="just">
              <a:lnSpc>
                <a:spcPts val="4679"/>
              </a:lnSpc>
              <a:buFont typeface="Arial"/>
              <a:buChar char="⚬"/>
            </a:pP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the number changes, you must update it everywhere.</a:t>
            </a:r>
          </a:p>
          <a:p>
            <a:pPr marL="682676" lvl="1" indent="-341338" algn="just">
              <a:lnSpc>
                <a:spcPts val="4679"/>
              </a:lnSpc>
              <a:buAutoNum type="arabicPeriod"/>
            </a:pPr>
            <a:r>
              <a:rPr lang="en-US" sz="31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Update Anomalies</a:t>
            </a: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1365352" lvl="2" indent="-455117" algn="just">
              <a:lnSpc>
                <a:spcPts val="4679"/>
              </a:lnSpc>
              <a:buFont typeface="Arial"/>
              <a:buChar char="⚬"/>
            </a:pP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one record is updated but another duplicate is not, inconsistency happens.</a:t>
            </a:r>
          </a:p>
          <a:p>
            <a:pPr marL="682676" lvl="1" indent="-341338" algn="just">
              <a:lnSpc>
                <a:spcPts val="4679"/>
              </a:lnSpc>
              <a:buAutoNum type="arabicPeriod"/>
            </a:pPr>
            <a:r>
              <a:rPr lang="en-US" sz="31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Insert Anomalies</a:t>
            </a: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1365352" lvl="2" indent="-455117" algn="just">
              <a:lnSpc>
                <a:spcPts val="4679"/>
              </a:lnSpc>
              <a:buFont typeface="Arial"/>
              <a:buChar char="⚬"/>
            </a:pP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Sometimes you cannot insert data because another related data is missing.</a:t>
            </a:r>
          </a:p>
          <a:p>
            <a:pPr marL="1365352" lvl="2" indent="-455117" algn="just">
              <a:lnSpc>
                <a:spcPts val="4679"/>
              </a:lnSpc>
              <a:buFont typeface="Arial"/>
              <a:buChar char="⚬"/>
            </a:pP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You can’t add a new course if no student is yet enrolled.</a:t>
            </a:r>
          </a:p>
          <a:p>
            <a:pPr marL="682676" lvl="1" indent="-341338" algn="just">
              <a:lnSpc>
                <a:spcPts val="4679"/>
              </a:lnSpc>
              <a:buAutoNum type="arabicPeriod"/>
            </a:pPr>
            <a:r>
              <a:rPr lang="en-US" sz="31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Delete Anomalies</a:t>
            </a: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1365352" lvl="2" indent="-455117" algn="just">
              <a:lnSpc>
                <a:spcPts val="4679"/>
              </a:lnSpc>
              <a:buFont typeface="Arial"/>
              <a:buChar char="⚬"/>
            </a:pP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Deleting a record may cause accidental loss of important information.</a:t>
            </a:r>
          </a:p>
          <a:p>
            <a:pPr marL="1365352" lvl="2" indent="-455117" algn="just">
              <a:lnSpc>
                <a:spcPts val="4679"/>
              </a:lnSpc>
              <a:buFont typeface="Arial"/>
              <a:buChar char="⚬"/>
            </a:pPr>
            <a:r>
              <a:rPr lang="en-US" sz="3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Example: If you delete the only student enrolled in "BSCS," the course itself disappears from the database.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4203" y="1414917"/>
            <a:ext cx="15995097" cy="664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03"/>
              </a:lnSpc>
            </a:pPr>
            <a:r>
              <a:rPr lang="en-US" sz="58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We Normalize </a:t>
            </a:r>
          </a:p>
          <a:p>
            <a:pPr marL="855391" lvl="1" indent="-427696" algn="just">
              <a:lnSpc>
                <a:spcPts val="8874"/>
              </a:lnSpc>
              <a:buFont typeface="Arial"/>
              <a:buChar char="•"/>
            </a:pPr>
            <a:r>
              <a:rPr lang="en-US" sz="39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save storage space by avoiding repetition.</a:t>
            </a:r>
          </a:p>
          <a:p>
            <a:pPr marL="855391" lvl="1" indent="-427696" algn="just">
              <a:lnSpc>
                <a:spcPts val="8874"/>
              </a:lnSpc>
              <a:buFont typeface="Arial"/>
              <a:buChar char="•"/>
            </a:pPr>
            <a:r>
              <a:rPr lang="en-US" sz="39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maintain consistency of data.</a:t>
            </a:r>
          </a:p>
          <a:p>
            <a:pPr marL="855391" lvl="1" indent="-427696" algn="just">
              <a:lnSpc>
                <a:spcPts val="8874"/>
              </a:lnSpc>
              <a:buFont typeface="Arial"/>
              <a:buChar char="•"/>
            </a:pPr>
            <a:r>
              <a:rPr lang="en-US" sz="39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make queries faster and more accurate.</a:t>
            </a:r>
          </a:p>
          <a:p>
            <a:pPr marL="855391" lvl="1" indent="-427696" algn="just">
              <a:lnSpc>
                <a:spcPts val="8874"/>
              </a:lnSpc>
              <a:buFont typeface="Arial"/>
              <a:buChar char="•"/>
            </a:pPr>
            <a:r>
              <a:rPr lang="en-US" sz="39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ensure flexibility when updating, inserting, or deleting data.</a:t>
            </a:r>
          </a:p>
        </p:txBody>
      </p: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65561" y="3427589"/>
            <a:ext cx="15560412" cy="215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457"/>
              </a:lnSpc>
            </a:pPr>
            <a:r>
              <a:rPr lang="en-US" sz="8861">
                <a:solidFill>
                  <a:srgbClr val="000000"/>
                </a:solidFill>
                <a:latin typeface="Aloja"/>
                <a:ea typeface="Aloja"/>
                <a:cs typeface="Aloja"/>
                <a:sym typeface="Aloja"/>
              </a:rPr>
              <a:t>THANK YOU!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2041</Words>
  <Application>Microsoft Office PowerPoint</Application>
  <PresentationFormat>Custom</PresentationFormat>
  <Paragraphs>252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Poppins</vt:lpstr>
      <vt:lpstr>Calibri</vt:lpstr>
      <vt:lpstr>Poppins Italics</vt:lpstr>
      <vt:lpstr>Lato Bold</vt:lpstr>
      <vt:lpstr>League Spartan</vt:lpstr>
      <vt:lpstr>Arial</vt:lpstr>
      <vt:lpstr>Poppins Bold</vt:lpstr>
      <vt:lpstr>Aloja</vt:lpstr>
      <vt:lpstr>Poppins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 SQL Data Types</dc:title>
  <cp:lastModifiedBy>Michael Yape</cp:lastModifiedBy>
  <cp:revision>2</cp:revision>
  <dcterms:created xsi:type="dcterms:W3CDTF">2006-08-16T00:00:00Z</dcterms:created>
  <dcterms:modified xsi:type="dcterms:W3CDTF">2025-09-08T22:56:51Z</dcterms:modified>
  <dc:identifier>DAGyaLN-NEg</dc:identifier>
</cp:coreProperties>
</file>